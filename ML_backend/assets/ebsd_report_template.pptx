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'1.0' encoding='utf-8'?>
<ns0:Relationships xmlns:ns0="http://schemas.openxmlformats.org/package/2006/relationships"><ns0:Relationship Id="rId3" Type="http://schemas.openxmlformats.org/package/2006/relationships/metadata/core-properties" Target="docProps/core.xml" /><ns0:Relationship Id="rId1" Type="http://schemas.openxmlformats.org/officeDocument/2006/relationships/officeDocument" Target="ppt/presentation.xml" /><ns0:Relationship Id="rId4" Type="http://schemas.openxmlformats.org/officeDocument/2006/relationships/extended-properties" Target="docProps/app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>
  <ns0:sldMasterIdLst>
    <ns0:sldMasterId id="2147483648" ns1:id="rId1"/>
  </ns0:sldMasterIdLst>
  <ns0:sldIdLst>
    <ns0:sldId id="257" ns1:id="rId2"/>
    <ns0:sldId id="258" ns1:id="rId3"/>
    <ns0:sldId id="262" ns1:id="rId4"/>
    <ns0:sldId id="259" ns1:id="rId5"/>
    <ns0:sldId id="263" ns1:id="rId6"/>
  </ns0:sldIdLst>
  <ns0:sldSz cx="12192000" cy="6858000"/>
  <ns0:notesSz cx="6858000" cy="9144000"/>
  <ns0:defaultTextStyle>
    <ns2:defPPr>
      <ns2:defRPr lang="zh-TW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powerpoint/2010/main" type="title" preserve="1">
  <ns0:cSld name="標題投影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副標題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3307581883"/>
      </ns0:ext>
    </ns0:extLst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powerpoint/2010/main" type="obj" preserve="1">
  <ns0:cSld name="標題及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4224676206"/>
      </ns0:ext>
    </ns0:extLst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powerpoint/2010/main" type="secHead" preserve="1">
  <ns0:cSld name="章節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TW" altLang="en-US" smtClean="0"/>
              <ns1:t/>
            </ns1:r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2478200204"/>
      </ns0:ext>
    </ns0:extLst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powerpoint/2010/main" type="twoObj" preserve="1">
  <ns0:cSld name="兩項物件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5" name="日期版面配置區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6" name="頁尾版面配置區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7" name="投影片編號版面配置區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202428794"/>
      </ns0:ext>
    </ns0:extLst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powerpoint/2010/main" type="twoTxTwoObj" preserve="1">
  <ns0:cSld name="比對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 smtClean="0"/>
              <ns1:t/>
            </ns1:r>
          </ns1:p>
        </ns0:txBody>
      </ns0:sp>
      <ns0:sp>
        <ns0:nvSpPr>
          <ns0:cNvPr id="4" name="內容版面配置區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5" name="文字版面配置區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TW" altLang="en-US" smtClean="0"/>
              <ns1:t/>
            </ns1:r>
          </ns1:p>
        </ns0:txBody>
      </ns0:sp>
      <ns0:sp>
        <ns0:nvSpPr>
          <ns0:cNvPr id="6" name="內容版面配置區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7" name="日期版面配置區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8" name="頁尾版面配置區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9" name="投影片編號版面配置區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1963338130"/>
      </ns0:ext>
    </ns0:extLst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powerpoint/2010/main" type="titleOnly" preserve="1">
  <ns0:cSld name="只有標題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日期版面配置區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4" name="頁尾版面配置區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5" name="投影片編號版面配置區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39735118"/>
      </ns0:ext>
    </ns0:extLst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powerpoint/2010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版面配置區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3" name="頁尾版面配置區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4" name="投影片編號版面配置區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2950269745"/>
      </ns0:ext>
    </ns0:extLst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powerpoint/2010/main" type="objTx" preserve="1">
  <ns0:cSld name="含標題的內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內容版面配置區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TW" altLang="en-US" smtClean="0"/>
              <ns1:t/>
            </ns1:r>
          </ns1:p>
        </ns0:txBody>
      </ns0:sp>
      <ns0:sp>
        <ns0:nvSpPr>
          <ns0:cNvPr id="5" name="日期版面配置區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6" name="頁尾版面配置區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7" name="投影片編號版面配置區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1528040863"/>
      </ns0:ext>
    </ns0:extLst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microsoft.com/office/powerpoint/2010/main" type="picTx" preserve="1">
  <ns0:cSld name="含標題的圖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圖片版面配置區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TW" altLang="en-US"/>
          </ns1:p>
        </ns0:txBody>
      </ns0:sp>
      <ns0:sp>
        <ns0:nvSpPr>
          <ns0:cNvPr id="4" name="文字版面配置區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TW" altLang="en-US" smtClean="0"/>
              <ns1:t/>
            </ns1:r>
          </ns1:p>
        </ns0:txBody>
      </ns0:sp>
      <ns0:sp>
        <ns0:nvSpPr>
          <ns0:cNvPr id="5" name="日期版面配置區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6" name="頁尾版面配置區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7" name="投影片編號版面配置區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2895090107"/>
      </ns0:ext>
    </ns0:extLst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microsoft.com/office/powerpoint/2010/main" type="vertTx" preserve="1">
  <ns0:cSld name="標題及直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3727925651"/>
      </ns0:ext>
    </ns0:extLst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microsoft.com/office/powerpoint/2010/main" type="vertTitleAndTx" preserve="1">
  <ns0:cSld name="直排標題及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直排標題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直排文字版面配置區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757083228"/>
      </ns0:ext>
    </ns0:extLst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xmlns:ns2="http://schemas.microsoft.com/office/powerpoint/2010/main" matchingName="Blank">
  <ns0:cSld name="Blank">
    <ns0:spTree>
      <ns0:nvGrpSpPr>
        <ns0:cNvPr id="1" name="Shape 25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6" name="Google Shape;26;p30"/>
          <ns0:cNvSpPr txBox="1">
            <ns1:spLocks noGrp="1"/>
          </ns0:cNvSpPr>
          <ns0:nvPr>
            <ns0:ph type="ftr" idx="11"/>
          </ns0:nvPr>
        </ns0:nvSpPr>
        <ns0:spPr>
          <ns1:xfrm>
            <ns1:off x="104985" y="6637911"/>
            <ns1:ext cx="2090419" cy="153888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 anchorCtr="0">
            <ns1:spAutoFit/>
          </ns1:bodyPr>
          <ns1:lstStyle>
            <ns1:lvl1pPr lvl="0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 sz="1000" b="0" i="0">
                <ns1:solidFill>
                  <ns1:schemeClr val="lt1"/>
                </ns1:solidFill>
                <ns1:latin typeface="Microsoft JhengHei"/>
                <ns1:ea typeface="Microsoft JhengHei"/>
                <ns1:cs typeface="Microsoft JhengHei"/>
                <ns1:sym typeface="Microsoft JhengHei"/>
              </ns1:defRPr>
            </ns1:lvl1pPr>
            <ns1:lvl2pPr lvl="1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2pPr>
            <ns1:lvl3pPr lvl="2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3pPr>
            <ns1:lvl4pPr lvl="3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4pPr>
            <ns1:lvl5pPr lvl="4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5pPr>
            <ns1:lvl6pPr lvl="5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6pPr>
            <ns1:lvl7pPr lvl="6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7pPr>
            <ns1:lvl8pPr lvl="7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8pPr>
            <ns1:lvl9pPr lvl="8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9pPr>
          </ns1:lstStyle>
          <ns1:p>
            <ns1:endParaRPr/>
          </ns1:p>
        </ns0:txBody>
      </ns0:sp>
      <ns0:sp>
        <ns0:nvSpPr>
          <ns0:cNvPr id="27" name="Google Shape;27;p30"/>
          <ns0:cNvSpPr txBox="1">
            <ns1:spLocks noGrp="1"/>
          </ns0:cNvSpPr>
          <ns0:nvPr>
            <ns0:ph type="dt" idx="10"/>
          </ns0:nvPr>
        </ns0:nvSpPr>
        <ns0:spPr>
          <ns1:xfrm>
            <ns1:off x="609600" y="6377942"/>
            <ns1:ext cx="2804160" cy="184666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 anchorCtr="0">
            <ns1:spAutoFit/>
          </ns1:bodyPr>
          <ns1:lstStyle>
            <ns1:lvl1pPr lvl="0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>
                <ns1:solidFill>
                  <ns1:srgbClr val="888888"/>
                </ns1:solidFill>
              </ns1:defRPr>
            </ns1:lvl1pPr>
            <ns1:lvl2pPr lvl="1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2pPr>
            <ns1:lvl3pPr lvl="2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3pPr>
            <ns1:lvl4pPr lvl="3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4pPr>
            <ns1:lvl5pPr lvl="4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5pPr>
            <ns1:lvl6pPr lvl="5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6pPr>
            <ns1:lvl7pPr lvl="6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7pPr>
            <ns1:lvl8pPr lvl="7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8pPr>
            <ns1:lvl9pPr lvl="8" algn="l">
              <ns1:spcBef>
                <ns1:spcPts val="0"/>
              </ns1:spcBef>
              <ns1:spcAft>
                <ns1:spcPts val="0"/>
              </ns1:spcAft>
              <ns1:buSzPts val="1400"/>
              <ns1:buNone/>
              <ns1:defRPr/>
            </ns1:lvl9pPr>
          </ns1:lstStyle>
          <ns1:p>
            <ns1:endParaRPr/>
          </ns1:p>
        </ns0:txBody>
      </ns0:sp>
      <ns0:sp>
        <ns0:nvSpPr>
          <ns0:cNvPr id="28" name="Google Shape;28;p30"/>
          <ns0:cNvSpPr txBox="1">
            <ns1:spLocks noGrp="1"/>
          </ns0:cNvSpPr>
          <ns0:nvPr>
            <ns0:ph type="sldNum" idx="12"/>
          </ns0:nvPr>
        </ns0:nvSpPr>
        <ns0:spPr>
          <ns1:xfrm>
            <ns1:off x="11791697" y="6643023"/>
            <ns1:ext cx="346287" cy="21974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 anchorCtr="0">
            <ns1:spAutoFit/>
          </ns1:bodyPr>
          <ns1:lstStyle>
            <ns1:lvl1pPr marL="38100" marR="0" lvl="0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1pPr>
            <ns1:lvl2pPr marL="38100" marR="0" lvl="1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2pPr>
            <ns1:lvl3pPr marL="38100" marR="0" lvl="2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3pPr>
            <ns1:lvl4pPr marL="38100" marR="0" lvl="3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4pPr>
            <ns1:lvl5pPr marL="38100" marR="0" lvl="4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5pPr>
            <ns1:lvl6pPr marL="38100" marR="0" lvl="5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6pPr>
            <ns1:lvl7pPr marL="38100" marR="0" lvl="6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7pPr>
            <ns1:lvl8pPr marL="38100" marR="0" lvl="7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8pPr>
            <ns1:lvl9pPr marL="38100" marR="0" lvl="8" indent="0" algn="l">
              <ns1:lnSpc>
                <ns1:spcPct val="118750"/>
              </ns1:lnSpc>
              <ns1:spcBef>
                <ns1:spcPts val="0"/>
              </ns1:spcBef>
              <ns1:buNone/>
              <ns1:defRPr sz="1200" b="0" i="0">
                <ns1:solidFill>
                  <ns1:schemeClr val="lt1"/>
                </ns1:solidFill>
                <ns1:latin typeface="Arial"/>
                <ns1:ea typeface="Arial"/>
                <ns1:cs typeface="Arial"/>
                <ns1:sym typeface="Arial"/>
              </ns1:defRPr>
            </ns1:lvl9pPr>
          </ns1:lstStyle>
          <ns1:p>
            <ns1:fld id="{00000000-1234-1234-1234-123412341234}" type="slidenum">
              <ns1:rPr lang="en-US" smtClean="0"/>
              <ns1:pPr/>
              <ns1:t/>
            </ns1:fld>
            <ns1:endParaRPr lang="en-US"/>
          </ns1:p>
        </ns0:txBody>
      </ns0:sp>
    </ns0:spTree>
    <ns0:extLst>
      <ns0:ext uri="{BB962C8B-B14F-4D97-AF65-F5344CB8AC3E}">
        <ns2:creationId val="3182275076"/>
      </ns0:ext>
    </ns0:extLst>
  </ns0:cSld>
  <ns0:clrMapOvr>
    <ns1:masterClrMapping/>
  </ns0:clrMapOvr>
</ns0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microsoft.com/office/powerpoint/2010/main" xmlns:ns3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標題版面配置區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3" name="文字版面配置區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TW" altLang="en-US" smtClean="0"/>
              <ns1:t/>
            </ns1:r>
          </ns1:p>
          <ns1:p>
            <ns1:pPr lvl="1"/>
            <ns1:r>
              <ns1:rPr lang="zh-TW" altLang="en-US" smtClean="0"/>
              <ns1:t/>
            </ns1:r>
          </ns1:p>
          <ns1:p>
            <ns1:pPr lvl="2"/>
            <ns1:r>
              <ns1:rPr lang="zh-TW" altLang="en-US" smtClean="0"/>
              <ns1:t/>
            </ns1:r>
          </ns1:p>
          <ns1:p>
            <ns1:pPr lvl="3"/>
            <ns1:r>
              <ns1:rPr lang="zh-TW" altLang="en-US" smtClean="0"/>
              <ns1:t/>
            </ns1:r>
          </ns1:p>
          <ns1:p>
            <ns1:pPr lvl="4"/>
            <ns1:r>
              <ns1:rPr lang="zh-TW" altLang="en-US" smtClean="0"/>
              <ns1:t/>
            </ns1:r>
            <ns1:endParaRPr lang="zh-TW" altLang="en-US"/>
          </ns1:p>
        </ns0:txBody>
      </ns0:sp>
      <ns0:sp>
        <ns0:nvSpPr>
          <ns0:cNvPr id="4" name="日期版面配置區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ABC2469D-466A-4FDA-B8A4-A3D7EB27757C}" type="datetimeFigureOut">
              <ns1:rPr lang="zh-TW" altLang="en-US" smtClean="0"/>
              <ns1:t/>
            </ns1:fld>
            <ns1:endParaRPr lang="zh-TW" altLang="en-US"/>
          </ns1:p>
        </ns0:txBody>
      </ns0:sp>
      <ns0:sp>
        <ns0:nvSpPr>
          <ns0:cNvPr id="5" name="頁尾版面配置區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TW" altLang="en-US"/>
          </ns1:p>
        </ns0:txBody>
      </ns0:sp>
      <ns0:sp>
        <ns0:nvSpPr>
          <ns0:cNvPr id="6" name="投影片編號版面配置區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01D82B-A4F6-46C7-8968-17A171FE9ECC}" type="slidenum">
              <ns1:rPr lang="zh-TW" altLang="en-US" smtClean="0"/>
              <ns1:t/>
            </ns1:fld>
            <ns1:endParaRPr lang="zh-TW" altLang="en-US"/>
          </ns1:p>
        </ns0:txBody>
      </ns0:sp>
    </ns0:spTree>
    <ns0:extLst>
      <ns0:ext uri="{BB962C8B-B14F-4D97-AF65-F5344CB8AC3E}">
        <ns2:creationId val="3033366706"/>
      </ns0:ext>
    </ns0:extLst>
  </ns0:cSld>
  <ns0:clrMap bg1="lt1" tx1="dk1" bg2="lt2" tx2="dk2" accent1="accent1" accent2="accent2" accent3="accent3" accent4="accent4" accent5="accent5" accent6="accent6" hlink="hlink" folHlink="folHlink"/>
  <ns0:sldLayoutIdLst>
    <ns0:sldLayoutId id="2147483649" ns3:id="rId1"/>
    <ns0:sldLayoutId id="2147483650" ns3:id="rId2"/>
    <ns0:sldLayoutId id="2147483651" ns3:id="rId3"/>
    <ns0:sldLayoutId id="2147483652" ns3:id="rId4"/>
    <ns0:sldLayoutId id="2147483653" ns3:id="rId5"/>
    <ns0:sldLayoutId id="2147483654" ns3:id="rId6"/>
    <ns0:sldLayoutId id="2147483655" ns3:id="rId7"/>
    <ns0:sldLayoutId id="2147483656" ns3:id="rId8"/>
    <ns0:sldLayoutId id="2147483657" ns3:id="rId9"/>
    <ns0:sldLayoutId id="2147483658" ns3:id="rId10"/>
    <ns0:sldLayoutId id="2147483659" ns3:id="rId11"/>
    <ns0:sldLayoutId id="2147483660" ns3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TW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>
  <ns0:cSld name="EBSD_TEMPLATE_IPF">
    <ns0:spTree>
      <ns0:nvGrpSpPr>
        <ns0:cNvPr id="1" name="Shape 162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163" name="EBSD_IPF_GRID"/>
          <ns0:cNvGraphicFramePr/>
          <ns0:nvPr>
            <ns0:extLst>
              <ns0:ext uri="{D42A27DB-BD31-4B8C-83A1-F6EECF244321}">
                <ns2:modId val="493944229"/>
              </ns0:ext>
            </ns0:extLst>
          </ns0:nvPr>
        </ns0:nvGraphicFramePr>
        <ns0:xfrm>
          <ns1:off x="2057400" y="501116"/>
          <ns1:ext cx="8146700" cy="563880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91085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239715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2438400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2400300">
                  <ns1:extLst>
                    <ns1:ext uri="{9D8B030D-6E8A-4147-A177-3AD203B41FA5}">
                      <ns3:colId val="20003"/>
                    </ns1:ext>
                  </ns1:extLst>
                </ns1:gridCol>
              </ns1:tblGrid>
              <ns1:tr h="1035800"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3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lnSpc>
                          <ns1:spcPct val="100000"/>
                        </ns1:lnSpc>
                        <ns1:spcBef>
                          <ns1:spcPts val="0"/>
                        </ns1:spcBef>
                        <ns1:spcAft>
                          <ns1:spcPts val="0"/>
                        </ns1:spcAft>
                        <ns1:buSzPts val="1800"/>
                        <ns1:buFont typeface="Arial"/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1555000"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 b="1" i="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 b="1" i="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rgbClr val="FDE9D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 dirty="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chemeClr val="lt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rgbClr val="FDE9D8"/>
                    </ns1:solidFill>
                  </ns1:tcPr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1524000"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 b="1" i="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 b="1" i="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chemeClr val="lt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 dirty="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chemeClr val="lt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rgbClr val="FDE9D8"/>
                    </ns1:solidFill>
                  </ns1:tcPr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1524000"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 b="1" i="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 b="1" i="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 anchor="ctr">
                    <ns1:solidFill>
                      <ns1:srgbClr val="DAE5F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chemeClr val="lt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 dirty="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chemeClr val="lt1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 dirty="0">
                        <ns1:latin typeface="Microsoft JhengHei"/>
                        <ns1:ea typeface="Microsoft JhengHei"/>
                        <ns1:cs typeface="Microsoft JhengHei"/>
                        <ns1:sym typeface="Microsoft JhengHei"/>
                      </ns1:endParaRPr>
                    </ns1:p>
                  </ns1:txBody>
                  <ns1:tcPr marL="91450" marR="91450" marT="45725" marB="45725">
                    <ns1:solidFill>
                      <ns1:srgbClr val="FDE9D8"/>
                    </ns1:solidFill>
                  </ns1:tcPr>
                </ns1:tc>
                <ns1:extLst>
                  <ns1:ext uri="{0D108BD9-81ED-4DB2-BD59-A6C34878D82A}">
                    <ns3:rowId val="10003"/>
                  </ns1:ext>
                </ns1:extLst>
              </ns1:tr>
            </ns1:tbl>
          </ns1:graphicData>
        </ns1:graphic>
      </ns0:graphicFrame>
      <ns0:sp>
        <ns0:nvSpPr>
          <ns0:cNvPr id="166" name="EBSD_TITLE"/>
          <ns0:cNvSpPr txBox="1"/>
          <ns0:nvPr/>
        </ns0:nvSpPr>
        <ns0:spPr>
          <ns1:xfrm>
            <ns1:off x="1534510" y="-12539"/>
            <ns1:ext cx="9057290" cy="44307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12050" rIns="0" bIns="0" anchor="t" anchorCtr="0">
            <ns1:spAutoFit/>
          </ns1:bodyPr>
          <ns1:lstStyle/>
          <ns1:p>
            <ns1:pPr marL="12700"/>
            <ns1:r>
              <ns1:rPr lang="en-US" sz="280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Orientation maps with IPF Z</ns1:t>
            </ns1:r>
            <ns1:endParaRPr sz="3000">
              <ns1:solidFill>
                <ns1:srgbClr val="0000FF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</ns0:spTree>
    <ns0:extLst>
      <ns0:ext uri="{BB962C8B-B14F-4D97-AF65-F5344CB8AC3E}">
        <ns2:creationId val="3134883545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>
  <ns0:cSld name="EBSD_TEMPLATE_ORIENTATION_PIXELS">
    <ns0:spTree>
      <ns0:nvGrpSpPr>
        <ns0:cNvPr id="1" name="Shape 17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180" name="EBSD_TABLE_20"/>
          <ns0:cNvGraphicFramePr/>
          <ns0:nvPr>
            <ns0:extLst>
              <ns0:ext uri="{D42A27DB-BD31-4B8C-83A1-F6EECF244321}">
                <ns2:modId val="2436462997"/>
              </ns0:ext>
            </ns0:extLst>
          </ns0:nvPr>
        </ns0:nvGraphicFramePr>
        <ns0:xfrm>
          <ns1:off x="1562100" y="1143000"/>
          <ns1:ext cx="9067750" cy="185933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906775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3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4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5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6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7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8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9"/>
                    </ns1:ext>
                  </ns1:extLst>
                </ns1:gridCol>
              </ns1:tblGrid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962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graphicFrame>
        <ns0:nvGraphicFramePr>
          <ns0:cNvPr id="181" name="EBSD_TABLE_15"/>
          <ns0:cNvGraphicFramePr/>
          <ns0:nvPr>
            <ns0:extLst>
              <ns0:ext uri="{D42A27DB-BD31-4B8C-83A1-F6EECF244321}">
                <ns2:modId val="1744351093"/>
              </ns0:ext>
            </ns0:extLst>
          </ns0:nvPr>
        </ns0:nvGraphicFramePr>
        <ns0:xfrm>
          <ns1:off x="1559169" y="3810000"/>
          <ns1:ext cx="9067750" cy="185933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906775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3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4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5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6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7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8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9"/>
                    </ns1:ext>
                  </ns1:extLst>
                </ns1:gridCol>
              </ns1:tblGrid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962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sp>
        <ns0:nvSpPr>
          <ns0:cNvPr id="182" name="EBSD_TITLE"/>
          <ns0:cNvSpPr txBox="1"/>
          <ns0:nvPr/>
        </ns0:nvSpPr>
        <ns0:spPr>
          <ns1:xfrm>
            <ns1:off x="1524000" y="172081"/>
            <ns1:ext cx="8600090" cy="473833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12050" rIns="0" bIns="0" anchor="t" anchorCtr="0">
            <ns1:spAutoFit/>
          </ns1:bodyPr>
          <ns1:lstStyle/>
          <ns1:p>
            <ns1:pPr marL="12700"/>
            <ns1:r>
              <ns1:rPr lang="en-US" sz="3000" dirty="0" smtClean="0">
                <ns1:latin typeface="Arial"/>
                <ns1:ea typeface="Arial"/>
                <ns1:cs typeface="Arial"/>
                <ns1:sym typeface="Arial"/>
              </ns1:rPr>
              <ns1:t>Orientation ratio by pixels</ns1:t>
            </ns1:r>
            <ns1:endParaRPr sz="3000" dirty="0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83" name="EBSD_SUBTITLE_20"/>
          <ns0:cNvSpPr/>
          <ns0:nvPr/>
        </ns0:nvSpPr>
        <ns0:spPr>
          <ns1:xfrm>
            <ns1:off x="1524000" y="712708"/>
            <ns1:ext cx="5029200" cy="3693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spAutoFit/>
          </ns1:bodyPr>
          <ns1:lstStyle/>
          <ns1:p>
            <ns1:r>
              <ns1:rPr lang="en-US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Prefer orientation ratio (Misorientation angle 20°)</ns1:t>
            </ns1:r>
            <ns1:endParaRPr/>
          </ns1:p>
        </ns0:txBody>
      </ns0:sp>
      <ns0:sp>
        <ns0:nvSpPr>
          <ns0:cNvPr id="184" name="EBSD_SUBTITLE_15"/>
          <ns0:cNvSpPr/>
          <ns0:nvPr/>
        </ns0:nvSpPr>
        <ns0:spPr>
          <ns1:xfrm>
            <ns1:off x="1562100" y="3373874"/>
            <ns1:ext cx="5029200" cy="3693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spAutoFit/>
          </ns1:bodyPr>
          <ns1:lstStyle/>
          <ns1:p>
            <ns1:r>
              <ns1:rPr lang="en-US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Prefer orientation ratio (Misorientation angle 15°)</ns1:t>
            </ns1:r>
            <ns1:endParaRPr/>
          </ns1:p>
        </ns0:txBody>
      </ns0:sp>
    </ns0:spTree>
    <ns0:extLst>
      <ns0:ext uri="{BB962C8B-B14F-4D97-AF65-F5344CB8AC3E}">
        <ns2:creationId val="2392006750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>
  <ns0:cSld name="EBSD_TEMPLATE_ORIENTATION_GRAINS">
    <ns0:spTree>
      <ns0:nvGrpSpPr>
        <ns0:cNvPr id="1" name="Shape 17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180" name="EBSD_TABLE_20"/>
          <ns0:cNvGraphicFramePr/>
          <ns0:nvPr>
            <ns0:extLst>
              <ns0:ext uri="{D42A27DB-BD31-4B8C-83A1-F6EECF244321}">
                <ns2:modId val="3811214554"/>
              </ns0:ext>
            </ns0:extLst>
          </ns0:nvPr>
        </ns0:nvGraphicFramePr>
        <ns0:xfrm>
          <ns1:off x="1562100" y="1143000"/>
          <ns1:ext cx="9067750" cy="185933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906775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3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4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5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6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7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8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9"/>
                    </ns1:ext>
                  </ns1:extLst>
                </ns1:gridCol>
              </ns1:tblGrid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962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graphicFrame>
        <ns0:nvGraphicFramePr>
          <ns0:cNvPr id="181" name="EBSD_TABLE_15"/>
          <ns0:cNvGraphicFramePr/>
          <ns0:nvPr>
            <ns0:extLst>
              <ns0:ext uri="{D42A27DB-BD31-4B8C-83A1-F6EECF244321}">
                <ns2:modId val="3643835438"/>
              </ns0:ext>
            </ns0:extLst>
          </ns0:nvPr>
        </ns0:nvGraphicFramePr>
        <ns0:xfrm>
          <ns1:off x="1559169" y="3810000"/>
          <ns1:ext cx="9067750" cy="185933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906775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3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4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5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6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7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8"/>
                    </ns1:ext>
                  </ns1:extLst>
                </ns1:gridCol>
                <ns1:gridCol w="906775">
                  <ns1:extLst>
                    <ns1:ext uri="{9D8B030D-6E8A-4147-A177-3AD203B41FA5}">
                      <ns3:colId val="20009"/>
                    </ns1:ext>
                  </ns1:extLst>
                </ns1:gridCol>
              </ns1:tblGrid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gridSpan="3"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962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5780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7625" marR="7625" marT="7625" marB="0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sp>
        <ns0:nvSpPr>
          <ns0:cNvPr id="182" name="EBSD_TITLE"/>
          <ns0:cNvSpPr txBox="1"/>
          <ns0:nvPr/>
        </ns0:nvSpPr>
        <ns0:spPr>
          <ns1:xfrm>
            <ns1:off x="1524000" y="172081"/>
            <ns1:ext cx="8600090" cy="473833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12050" rIns="0" bIns="0" anchor="t" anchorCtr="0">
            <ns1:spAutoFit/>
          </ns1:bodyPr>
          <ns1:lstStyle/>
          <ns1:p>
            <ns1:pPr marL="12700"/>
            <ns1:r>
              <ns1:rPr lang="en-US" sz="3000" dirty="0" smtClean="0">
                <ns1:latin typeface="Arial"/>
                <ns1:ea typeface="Arial"/>
                <ns1:cs typeface="Arial"/>
                <ns1:sym typeface="Arial"/>
              </ns1:rPr>
              <ns1:t>Orientation ratio by grains</ns1:t>
            </ns1:r>
            <ns1:endParaRPr sz="3000" dirty="0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83" name="EBSD_SUBTITLE_20"/>
          <ns0:cNvSpPr/>
          <ns0:nvPr/>
        </ns0:nvSpPr>
        <ns0:spPr>
          <ns1:xfrm>
            <ns1:off x="1524000" y="712708"/>
            <ns1:ext cx="5029200" cy="3693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spAutoFit/>
          </ns1:bodyPr>
          <ns1:lstStyle/>
          <ns1:p>
            <ns1:r>
              <ns1:rPr lang="en-US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Prefer orientation ratio (Misorientation angle 20°)</ns1:t>
            </ns1:r>
            <ns1:endParaRPr/>
          </ns1:p>
        </ns0:txBody>
      </ns0:sp>
      <ns0:sp>
        <ns0:nvSpPr>
          <ns0:cNvPr id="184" name="EBSD_SUBTITLE_15"/>
          <ns0:cNvSpPr/>
          <ns0:nvPr/>
        </ns0:nvSpPr>
        <ns0:spPr>
          <ns1:xfrm>
            <ns1:off x="1562100" y="3373874"/>
            <ns1:ext cx="5029200" cy="3693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spAutoFit/>
          </ns1:bodyPr>
          <ns1:lstStyle/>
          <ns1:p>
            <ns1:r>
              <ns1:rPr lang="en-US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Prefer orientation ratio (Misorientation angle 15°)</ns1:t>
            </ns1:r>
            <ns1:endParaRPr/>
          </ns1:p>
        </ns0:txBody>
      </ns0:sp>
    </ns0:spTree>
    <ns0:extLst>
      <ns0:ext uri="{BB962C8B-B14F-4D97-AF65-F5344CB8AC3E}">
        <ns2:creationId val="1765424761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microsoft.com/office/drawing/2014/main">
  <ns0:cSld name="EBSD_TEMPLATE_STATISTICS">
    <ns0:spTree>
      <ns0:nvGrpSpPr>
        <ns0:cNvPr id="1" name="Shape 190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191" name="EBSD_STATS_AVERAGE"/>
          <ns0:cNvGraphicFramePr/>
          <ns0:nvPr>
            <ns0:extLst>
              <ns0:ext uri="{D42A27DB-BD31-4B8C-83A1-F6EECF244321}">
                <ns2:modId val="1151336624"/>
              </ns0:ext>
            </ns0:extLst>
          </ns0:nvPr>
        </ns0:nvGraphicFramePr>
        <ns0:xfrm>
          <ns1:off x="1981200" y="1295400"/>
          <ns1:ext cx="4064000" cy="185425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101600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3"/>
                    </ns1:ext>
                  </ns1:extLst>
                </ns1:gridCol>
              </ns1:tblGrid>
              <ns1:tr h="370850">
                <ns1:tc gridSpan="4"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solidFill>
                            <ns1:schemeClr val="dk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/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solidFill>
                            <ns1:schemeClr val="dk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/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graphicFrame>
        <ns0:nvGraphicFramePr>
          <ns0:cNvPr id="192" name="EBSD_STATS_MAX"/>
          <ns0:cNvGraphicFramePr/>
          <ns0:nvPr>
            <ns0:extLst>
              <ns0:ext uri="{D42A27DB-BD31-4B8C-83A1-F6EECF244321}">
                <ns2:modId val="226508505"/>
              </ns0:ext>
            </ns0:extLst>
          </ns0:nvPr>
        </ns0:nvGraphicFramePr>
        <ns0:xfrm>
          <ns1:off x="6271846" y="1295400"/>
          <ns1:ext cx="4064000" cy="185425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101600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3"/>
                    </ns1:ext>
                  </ns1:extLst>
                </ns1:gridCol>
              </ns1:tblGrid>
              <ns1:tr h="370850">
                <ns1:tc gridSpan="4"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solidFill>
                            <ns1:schemeClr val="dk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solidFill>
                          <ns1:schemeClr val="dk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solidFill>
                            <ns1:schemeClr val="dk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/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graphicFrame>
        <ns0:nvGraphicFramePr>
          <ns0:cNvPr id="193" name="EBSD_STATS_QUANTITY"/>
          <ns0:cNvGraphicFramePr/>
          <ns0:nvPr>
            <ns0:extLst>
              <ns0:ext uri="{D42A27DB-BD31-4B8C-83A1-F6EECF244321}">
                <ns2:modId val="3928849353"/>
              </ns0:ext>
            </ns0:extLst>
          </ns0:nvPr>
        </ns0:nvGraphicFramePr>
        <ns0:xfrm>
          <ns1:off x="1981196" y="3360225"/>
          <ns1:ext cx="4064000" cy="1854250"/>
        </ns0:xfrm>
        <ns1:graphic>
          <ns1:graphicData uri="http://schemas.openxmlformats.org/drawingml/2006/table">
            <ns1:tbl>
              <ns1:tblPr firstRow="1" bandRow="1">
                <ns1:noFill/>
              </ns1:tblPr>
              <ns1:tblGrid>
                <ns1:gridCol w="1016000">
                  <ns1:extLst>
                    <ns1:ext uri="{9D8B030D-6E8A-4147-A177-3AD203B41FA5}">
                      <ns3:colId val="20000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1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2"/>
                    </ns1:ext>
                  </ns1:extLst>
                </ns1:gridCol>
                <ns1:gridCol w="1016000">
                  <ns1:extLst>
                    <ns1:ext uri="{9D8B030D-6E8A-4147-A177-3AD203B41FA5}">
                      <ns3:colId val="20003"/>
                    </ns1:ext>
                  </ns1:extLst>
                </ns1:gridCol>
              </ns1:tblGrid>
              <ns1:tr h="370850">
                <ns1:tc gridSpan="4"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solidFill>
                            <ns1:schemeClr val="dk1"/>
                          </ns1:solidFill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solidFill>
                          <ns1:schemeClr val="dk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endParaRPr lang="zh-TW"/>
                    </ns1:p>
                  </ns1:txBody>
                  <ns1:tcPr/>
                </ns1:tc>
                <ns1:extLst>
                  <ns1:ext uri="{0D108BD9-81ED-4DB2-BD59-A6C34878D82A}">
                    <ns3:rowId val="10000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endParaRPr sz="1800">
                        <ns1:solidFill>
                          <ns1:schemeClr val="dk1"/>
                        </ns1:solidFill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marL="0" marR="0" lvl="0" indent="0" algn="ctr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extLst>
                  <ns1:ext uri="{0D108BD9-81ED-4DB2-BD59-A6C34878D82A}">
                    <ns3:rowId val="10001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2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3"/>
                  </ns1:ext>
                </ns1:extLst>
              </ns1:tr>
              <ns1:tr h="370850">
                <ns1:tc>
                  <ns1:txBody>
                    <ns1:bodyPr/>
                    <ns1:lstStyle/>
                    <ns1:p>
                      <ns1:pPr marL="0" marR="0" lvl="0" indent="0" algn="l" rtl="0">
                        <ns1:spcBef>
                          <ns1:spcPts val="0"/>
                        </ns1:spcBef>
                        <ns1:spcAft>
                          <ns1:spcPts val="0"/>
                        </ns1:spcAft>
                        <ns1:buNone/>
                      </ns1:pPr>
                      <ns1:r>
                        <ns1:rPr lang="en-US" sz="1800">
                          <ns1:latin typeface="Arial"/>
                          <ns1:ea typeface="Arial"/>
                          <ns1:cs typeface="Arial"/>
                          <ns1:sym typeface="Arial"/>
                        </ns1:rPr>
                        <ns1:t/>
                      </ns1:r>
                      <ns1:endParaRPr sz="1800">
                        <ns1:latin typeface="Arial"/>
                        <ns1:ea typeface="Arial"/>
                        <ns1:cs typeface="Arial"/>
                        <ns1:sym typeface="Arial"/>
                      </ns1:endParaRPr>
                    </ns1:p>
                  </ns1:txBody>
                  <ns1:tcPr marL="91450" marR="91450" marT="45725" marB="45725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/>
                    </ns1:p>
                  </ns1:txBody>
                  <ns1:tcPr marL="91450" marR="91450" marT="45725" marB="45725" anchor="ctr"/>
                </ns1:tc>
                <ns1:tc>
                  <ns1:txBody>
                    <ns1:bodyPr/>
                    <ns1:lstStyle/>
                    <ns1:p>
                      <ns1:pPr algn="ctr"/>
                      <ns1:r>
                        <ns1:rPr sz="1800">
                          <ns1:latin typeface="Arial"/>
                        </ns1:rPr>
                        <ns1:t/>
                      </ns1:r>
                      <ns1:endParaRPr lang="zh-TW" altLang="en-US" dirty="0"/>
                    </ns1:p>
                  </ns1:txBody>
                  <ns1:tcPr marL="91450" marR="91450" marT="45725" marB="45725" anchor="ctr"/>
                </ns1:tc>
                <ns1:extLst>
                  <ns1:ext uri="{0D108BD9-81ED-4DB2-BD59-A6C34878D82A}">
                    <ns3:rowId val="10004"/>
                  </ns1:ext>
                </ns1:extLst>
              </ns1:tr>
            </ns1:tbl>
          </ns1:graphicData>
        </ns1:graphic>
      </ns0:graphicFrame>
      <ns0:sp>
        <ns0:nvSpPr>
          <ns0:cNvPr id="194" name="EBSD_TITLE"/>
          <ns0:cNvSpPr txBox="1"/>
          <ns0:nvPr/>
        </ns0:nvSpPr>
        <ns0:spPr>
          <ns1:xfrm>
            <ns1:off x="1839310" y="459175"/>
            <ns1:ext cx="8600090" cy="44307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12050" rIns="0" bIns="0" anchor="t" anchorCtr="0">
            <ns1:spAutoFit/>
          </ns1:bodyPr>
          <ns1:lstStyle/>
          <ns1:p>
            <ns1:pPr marL="12700"/>
            <ns1:r>
              <ns1:rPr lang="en-US" sz="2800" dirty="0" err="1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>Grain Size</ns1:t>
            </ns1:r>
            <ns1:r>
              <ns1:rPr lang="en-US" sz="2800" dirty="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/>
            </ns1:r>
            <ns1:r>
              <ns1:rPr lang="en-US" sz="2800" dirty="0" smtClean="0">
                <ns1:solidFill>
                  <ns1:schemeClr val="dk1"/>
                </ns1:solidFill>
                <ns1:latin typeface="Arial"/>
                <ns1:ea typeface="Arial"/>
                <ns1:cs typeface="Arial"/>
                <ns1:sym typeface="Arial"/>
              </ns1:rPr>
              <ns1:t/>
            </ns1:r>
            <ns1:endParaRPr sz="3000" dirty="0">
              <ns1:solidFill>
                <ns1:srgbClr val="0000FF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</ns0:spTree>
    <ns0:extLst>
      <ns0:ext uri="{BB962C8B-B14F-4D97-AF65-F5344CB8AC3E}">
        <ns2:creationId val="4287909637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powerpoint/2010/main">
  <ns0:cSld name="EBSD_TEMPLATE_GENERIC">
    <ns0:spTree>
      <ns0:nvGrpSpPr>
        <ns0:cNvPr id="1" name="Shape 179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82" name="EBSD_TITLE"/>
          <ns0:cNvSpPr txBox="1"/>
          <ns0:nvPr/>
        </ns0:nvSpPr>
        <ns0:spPr>
          <ns1:xfrm>
            <ns1:off x="1524000" y="172081"/>
            <ns1:ext cx="8600090" cy="473833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12050" rIns="0" bIns="0" anchor="t" anchorCtr="0">
            <ns1:spAutoFit/>
          </ns1:bodyPr>
          <ns1:lstStyle/>
          <ns1:p>
            <ns1:pPr marL="12700"/>
            <ns1:r>
              <ns1:rPr lang="en-US" sz="3000" dirty="0" smtClean="0">
                <ns1:latin typeface="Arial"/>
                <ns1:ea typeface="Arial"/>
                <ns1:cs typeface="Arial"/>
                <ns1:sym typeface="Arial"/>
              </ns1:rPr>
              <ns1:t>Report title</ns1:t>
            </ns1:r>
            <ns1:endParaRPr sz="3000" dirty="0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183" name="EBSD_SUBTITLE"/>
          <ns0:cNvSpPr/>
          <ns0:nvPr/>
        </ns0:nvSpPr>
        <ns0:spPr>
          <ns1:xfrm>
            <ns1:off x="1524000" y="712708"/>
            <ns1:ext cx="5029200" cy="369332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91425" tIns="45700" rIns="91425" bIns="45700" anchor="t" anchorCtr="0">
            <ns1:spAutoFit/>
          </ns1:bodyPr>
          <ns1:lstStyle/>
          <ns1:p>
            <ns1:r>
              <ns1:rPr lang="en-US">
                <ns1:solidFill>
                  <ns1:schemeClr val="dk1"/>
                </ns1:solidFill>
                <ns1:latin typeface="Calibri"/>
                <ns1:ea typeface="Calibri"/>
                <ns1:cs typeface="Calibri"/>
                <ns1:sym typeface="Calibri"/>
              </ns1:rPr>
              <ns1:t>Report subtitle</ns1:t>
            </ns1:r>
            <ns1:endParaRPr/>
          </ns1:p>
        </ns0:txBody>
      </ns0:sp>
    </ns0:spTree>
    <ns0:extLst>
      <ns0:ext uri="{BB962C8B-B14F-4D97-AF65-F5344CB8AC3E}">
        <ns2:creationId val="239200675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Application>EBSD Services</Application>
  <PresentationFormat>Widescreen</PresentationFormat>
  <Slides>5</Slides>
  <Notes>0</Notes>
  <HiddenSlides>0</HiddenSlides>
  <MMClips>0</MMClip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EBSD report template</dc:title>
  <dc:creator>EBSD Services</dc:creator>
  <cp:lastModifiedBy>EBSD Services</cp:lastModifiedBy>
  <cp:revision>1</cp:revision>
</cp:coreProperties>
</file>